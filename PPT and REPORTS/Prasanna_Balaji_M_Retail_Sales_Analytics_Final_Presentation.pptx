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7" r:id="rId10"/>
    <p:sldId id="268" r:id="rId11"/>
    <p:sldId id="263" r:id="rId12"/>
    <p:sldId id="265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74" autoAdjust="0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31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025051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6.pn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4"/>
          <p:cNvSpPr/>
          <p:nvPr/>
        </p:nvSpPr>
        <p:spPr>
          <a:xfrm>
            <a:off x="3471949" y="1906049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F8FAFC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DATA ANALYTICS PROJECT  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3531870" y="210116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8FAFC"/>
                </a:solidFill>
                <a:latin typeface="Aptos" pitchFamily="34" charset="0"/>
                <a:ea typeface="Cambria" pitchFamily="34" charset="-122"/>
                <a:cs typeface="Cambria" pitchFamily="34" charset="-120"/>
              </a:rPr>
              <a:t>Retail Sales Analytics</a:t>
            </a:r>
            <a:endParaRPr lang="en-US" sz="4600" dirty="0"/>
          </a:p>
        </p:txBody>
      </p:sp>
      <p:sp>
        <p:nvSpPr>
          <p:cNvPr id="9" name="Text 6"/>
          <p:cNvSpPr/>
          <p:nvPr/>
        </p:nvSpPr>
        <p:spPr>
          <a:xfrm>
            <a:off x="3531870" y="30155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F8FAFC"/>
                </a:solidFill>
                <a:latin typeface="Aptos" pitchFamily="34" charset="0"/>
                <a:ea typeface="Cambria" pitchFamily="34" charset="-122"/>
                <a:cs typeface="Cambria" pitchFamily="34" charset="-120"/>
              </a:rPr>
              <a:t>Capstone Project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3566160" y="3742509"/>
            <a:ext cx="909828" cy="384048"/>
          </a:xfrm>
          <a:prstGeom prst="roundRect">
            <a:avLst>
              <a:gd name="adj" fmla="val 50000"/>
            </a:avLst>
          </a:prstGeom>
          <a:solidFill>
            <a:srgbClr val="11243D"/>
          </a:solidFill>
          <a:ln w="12700">
            <a:solidFill>
              <a:srgbClr val="26436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8"/>
          <p:cNvSpPr/>
          <p:nvPr/>
        </p:nvSpPr>
        <p:spPr>
          <a:xfrm>
            <a:off x="3566160" y="3742509"/>
            <a:ext cx="9098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AC9DC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640580" y="3742509"/>
            <a:ext cx="699516" cy="384048"/>
          </a:xfrm>
          <a:prstGeom prst="roundRect">
            <a:avLst>
              <a:gd name="adj" fmla="val 50000"/>
            </a:avLst>
          </a:prstGeom>
          <a:solidFill>
            <a:srgbClr val="11243D"/>
          </a:solidFill>
          <a:ln w="12700">
            <a:solidFill>
              <a:srgbClr val="26436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0"/>
          <p:cNvSpPr/>
          <p:nvPr/>
        </p:nvSpPr>
        <p:spPr>
          <a:xfrm>
            <a:off x="4640579" y="3742509"/>
            <a:ext cx="764177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A636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504688" y="3742509"/>
            <a:ext cx="1014984" cy="384048"/>
          </a:xfrm>
          <a:prstGeom prst="roundRect">
            <a:avLst>
              <a:gd name="adj" fmla="val 50000"/>
            </a:avLst>
          </a:prstGeom>
          <a:solidFill>
            <a:srgbClr val="11243D"/>
          </a:solidFill>
          <a:ln w="12700">
            <a:solidFill>
              <a:srgbClr val="26436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2"/>
          <p:cNvSpPr/>
          <p:nvPr/>
        </p:nvSpPr>
        <p:spPr>
          <a:xfrm>
            <a:off x="5504688" y="3742509"/>
            <a:ext cx="10149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AEA6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684264" y="3742509"/>
            <a:ext cx="1225296" cy="384048"/>
          </a:xfrm>
          <a:prstGeom prst="roundRect">
            <a:avLst>
              <a:gd name="adj" fmla="val 50000"/>
            </a:avLst>
          </a:prstGeom>
          <a:solidFill>
            <a:srgbClr val="11243D"/>
          </a:solidFill>
          <a:ln w="12700">
            <a:solidFill>
              <a:srgbClr val="26436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4"/>
          <p:cNvSpPr/>
          <p:nvPr/>
        </p:nvSpPr>
        <p:spPr>
          <a:xfrm>
            <a:off x="6684264" y="3742509"/>
            <a:ext cx="12252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774EB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8636923" y="5735782"/>
            <a:ext cx="2743200" cy="0"/>
          </a:xfrm>
          <a:prstGeom prst="line">
            <a:avLst/>
          </a:prstGeom>
          <a:noFill/>
          <a:ln w="15875">
            <a:solidFill>
              <a:srgbClr val="24406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6"/>
          <p:cNvSpPr/>
          <p:nvPr/>
        </p:nvSpPr>
        <p:spPr>
          <a:xfrm>
            <a:off x="8561070" y="5853823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Prepared by: Prasanna Balaji M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8561070" y="6146431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Domain: Retail, Sales &amp; Inventory Analytics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9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8FAFC"/>
                </a:solidFill>
                <a:latin typeface="Aptos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8FAFC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What this capstone sets out to achieve, end to end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484778" cy="2125980"/>
          </a:xfrm>
          <a:prstGeom prst="roundRect">
            <a:avLst>
              <a:gd name="adj" fmla="val 3441"/>
            </a:avLst>
          </a:prstGeom>
          <a:solidFill>
            <a:srgbClr val="11243D"/>
          </a:solidFill>
          <a:ln>
            <a:solidFill>
              <a:srgbClr val="264366"/>
            </a:solidFill>
          </a:ln>
          <a:effectLst>
            <a:outerShdw blurRad="76200" dist="254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740664" y="1773936"/>
            <a:ext cx="566928" cy="566928"/>
          </a:xfrm>
          <a:prstGeom prst="ellipse">
            <a:avLst/>
          </a:prstGeom>
          <a:solidFill>
            <a:srgbClr val="11243D"/>
          </a:solidFill>
          <a:ln>
            <a:solidFill>
              <a:srgbClr val="264366"/>
            </a:solidFill>
          </a:ln>
        </p:spPr>
        <p:txBody>
          <a:bodyPr/>
          <a:lstStyle/>
          <a:p>
            <a:endParaRPr/>
          </a:p>
        </p:txBody>
      </p:sp>
      <p:pic>
        <p:nvPicPr>
          <p:cNvPr id="6" name="Image 0" descr="/home/claude/icons/filter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727" y="1909999"/>
            <a:ext cx="294803" cy="29480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441448"/>
            <a:ext cx="29727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8FAFC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Clean &amp; Prepare Data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04672" y="2825496"/>
            <a:ext cx="2972714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Clean and prepare retail transaction data for analysis.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53458" y="1600200"/>
            <a:ext cx="3484778" cy="2125980"/>
          </a:xfrm>
          <a:prstGeom prst="roundRect">
            <a:avLst>
              <a:gd name="adj" fmla="val 3441"/>
            </a:avLst>
          </a:prstGeom>
          <a:solidFill>
            <a:srgbClr val="11243D"/>
          </a:solidFill>
          <a:ln>
            <a:solidFill>
              <a:srgbClr val="264366"/>
            </a:solidFill>
          </a:ln>
          <a:effectLst>
            <a:outerShdw blurRad="76200" dist="254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Shape 7"/>
          <p:cNvSpPr/>
          <p:nvPr/>
        </p:nvSpPr>
        <p:spPr>
          <a:xfrm>
            <a:off x="4545482" y="1773936"/>
            <a:ext cx="566928" cy="566928"/>
          </a:xfrm>
          <a:prstGeom prst="ellipse">
            <a:avLst/>
          </a:prstGeom>
          <a:solidFill>
            <a:srgbClr val="11243D"/>
          </a:solidFill>
          <a:ln>
            <a:solidFill>
              <a:srgbClr val="264366"/>
            </a:solidFill>
          </a:ln>
        </p:spPr>
        <p:txBody>
          <a:bodyPr/>
          <a:lstStyle/>
          <a:p>
            <a:endParaRPr/>
          </a:p>
        </p:txBody>
      </p:sp>
      <p:pic>
        <p:nvPicPr>
          <p:cNvPr id="11" name="Image 1" descr="/home/claude/icons/lin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1545" y="1909999"/>
            <a:ext cx="294803" cy="29480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09490" y="2441448"/>
            <a:ext cx="29727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8FAFC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Relational Structure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609490" y="2825496"/>
            <a:ext cx="2972714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Build a relational structure for joins, aggregations and business queries.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158277" y="1600200"/>
            <a:ext cx="3484778" cy="2125980"/>
          </a:xfrm>
          <a:prstGeom prst="roundRect">
            <a:avLst>
              <a:gd name="adj" fmla="val 3441"/>
            </a:avLst>
          </a:prstGeom>
          <a:solidFill>
            <a:srgbClr val="11243D"/>
          </a:solidFill>
          <a:ln>
            <a:solidFill>
              <a:srgbClr val="264366"/>
            </a:solidFill>
          </a:ln>
          <a:effectLst>
            <a:outerShdw blurRad="76200" dist="254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1"/>
          <p:cNvSpPr/>
          <p:nvPr/>
        </p:nvSpPr>
        <p:spPr>
          <a:xfrm>
            <a:off x="8350301" y="1773936"/>
            <a:ext cx="566928" cy="566928"/>
          </a:xfrm>
          <a:prstGeom prst="ellipse">
            <a:avLst/>
          </a:prstGeom>
          <a:solidFill>
            <a:srgbClr val="11243D"/>
          </a:solidFill>
          <a:ln>
            <a:solidFill>
              <a:srgbClr val="264366"/>
            </a:solidFill>
          </a:ln>
        </p:spPr>
        <p:txBody>
          <a:bodyPr/>
          <a:lstStyle/>
          <a:p>
            <a:endParaRPr/>
          </a:p>
        </p:txBody>
      </p:sp>
      <p:pic>
        <p:nvPicPr>
          <p:cNvPr id="16" name="Image 2" descr="/home/claude/icons/barchart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6364" y="1909999"/>
            <a:ext cx="294803" cy="29480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14309" y="2441448"/>
            <a:ext cx="29727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8FAFC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Sales Performance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414309" y="2825496"/>
            <a:ext cx="2972714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Analyze sales performance across stores, products, customers and staff.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48640" y="4046220"/>
            <a:ext cx="3484778" cy="2125980"/>
          </a:xfrm>
          <a:prstGeom prst="roundRect">
            <a:avLst>
              <a:gd name="adj" fmla="val 3441"/>
            </a:avLst>
          </a:prstGeom>
          <a:solidFill>
            <a:srgbClr val="11243D"/>
          </a:solidFill>
          <a:ln>
            <a:solidFill>
              <a:srgbClr val="264366"/>
            </a:solidFill>
          </a:ln>
          <a:effectLst>
            <a:outerShdw blurRad="76200" dist="254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" name="Shape 15"/>
          <p:cNvSpPr/>
          <p:nvPr/>
        </p:nvSpPr>
        <p:spPr>
          <a:xfrm>
            <a:off x="740664" y="4219956"/>
            <a:ext cx="566928" cy="566928"/>
          </a:xfrm>
          <a:prstGeom prst="ellipse">
            <a:avLst/>
          </a:prstGeom>
          <a:solidFill>
            <a:srgbClr val="11243D"/>
          </a:solidFill>
          <a:ln>
            <a:solidFill>
              <a:srgbClr val="264366"/>
            </a:solidFill>
          </a:ln>
        </p:spPr>
        <p:txBody>
          <a:bodyPr/>
          <a:lstStyle/>
          <a:p>
            <a:endParaRPr/>
          </a:p>
        </p:txBody>
      </p:sp>
      <p:pic>
        <p:nvPicPr>
          <p:cNvPr id="21" name="Image 3" descr="/home/claude/icons/users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6727" y="4356019"/>
            <a:ext cx="294803" cy="29480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04672" y="4887468"/>
            <a:ext cx="29727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8FAFC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Customer Behavior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804672" y="5271516"/>
            <a:ext cx="2972714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Understand purchase behavior to support customer segmentation.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353458" y="4046220"/>
            <a:ext cx="3484778" cy="2125980"/>
          </a:xfrm>
          <a:prstGeom prst="roundRect">
            <a:avLst>
              <a:gd name="adj" fmla="val 3441"/>
            </a:avLst>
          </a:prstGeom>
          <a:solidFill>
            <a:srgbClr val="11243D"/>
          </a:solidFill>
          <a:ln>
            <a:solidFill>
              <a:srgbClr val="264366"/>
            </a:solidFill>
          </a:ln>
          <a:effectLst>
            <a:outerShdw blurRad="76200" dist="254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5" name="Shape 19"/>
          <p:cNvSpPr/>
          <p:nvPr/>
        </p:nvSpPr>
        <p:spPr>
          <a:xfrm>
            <a:off x="4545482" y="4219956"/>
            <a:ext cx="566928" cy="566928"/>
          </a:xfrm>
          <a:prstGeom prst="ellipse">
            <a:avLst/>
          </a:prstGeom>
          <a:solidFill>
            <a:srgbClr val="11243D"/>
          </a:solidFill>
          <a:ln>
            <a:solidFill>
              <a:srgbClr val="264366"/>
            </a:solidFill>
          </a:ln>
        </p:spPr>
        <p:txBody>
          <a:bodyPr/>
          <a:lstStyle/>
          <a:p>
            <a:endParaRPr/>
          </a:p>
        </p:txBody>
      </p:sp>
      <p:pic>
        <p:nvPicPr>
          <p:cNvPr id="26" name="Image 4" descr="/home/claude/icons/package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81545" y="4356019"/>
            <a:ext cx="294803" cy="294803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609490" y="4887468"/>
            <a:ext cx="29727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8FAFC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Inventory Monitoring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609490" y="5271516"/>
            <a:ext cx="2972714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Monitor stock levels and identify low-stock products.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8158277" y="4046220"/>
            <a:ext cx="3484778" cy="2125980"/>
          </a:xfrm>
          <a:prstGeom prst="roundRect">
            <a:avLst>
              <a:gd name="adj" fmla="val 3441"/>
            </a:avLst>
          </a:prstGeom>
          <a:solidFill>
            <a:srgbClr val="11243D"/>
          </a:solidFill>
          <a:ln>
            <a:solidFill>
              <a:srgbClr val="264366"/>
            </a:solidFill>
          </a:ln>
          <a:effectLst>
            <a:outerShdw blurRad="76200" dist="254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0" name="Shape 23"/>
          <p:cNvSpPr/>
          <p:nvPr/>
        </p:nvSpPr>
        <p:spPr>
          <a:xfrm>
            <a:off x="8350301" y="4219956"/>
            <a:ext cx="566928" cy="566928"/>
          </a:xfrm>
          <a:prstGeom prst="ellipse">
            <a:avLst/>
          </a:prstGeom>
          <a:solidFill>
            <a:srgbClr val="11243D"/>
          </a:solidFill>
          <a:ln>
            <a:solidFill>
              <a:srgbClr val="264366"/>
            </a:solidFill>
          </a:ln>
        </p:spPr>
        <p:txBody>
          <a:bodyPr/>
          <a:lstStyle/>
          <a:p>
            <a:endParaRPr/>
          </a:p>
        </p:txBody>
      </p:sp>
      <p:pic>
        <p:nvPicPr>
          <p:cNvPr id="31" name="Image 5" descr="/home/claude/icons/dashboard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86364" y="4356019"/>
            <a:ext cx="294803" cy="294803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414309" y="4887468"/>
            <a:ext cx="29727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8FAFC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Interactive Dashboard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414309" y="5271516"/>
            <a:ext cx="2972714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Build an interactive Power BI dashboard for management reporting.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F8FAFC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RETAIL SALES ANALYTICS  |  CAPSTONE PROJECT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8FAFC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9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8FAFC"/>
                </a:solidFill>
                <a:latin typeface="Aptos" pitchFamily="34" charset="0"/>
                <a:ea typeface="Cambria" pitchFamily="34" charset="-122"/>
                <a:cs typeface="Cambria" pitchFamily="34" charset="-120"/>
              </a:rPr>
              <a:t>Project Methodology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8FAFC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A four-phase pipeline, from raw data to a management-ready dashboard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918297" y="2811780"/>
            <a:ext cx="8355101" cy="0"/>
          </a:xfrm>
          <a:prstGeom prst="line">
            <a:avLst/>
          </a:prstGeom>
          <a:noFill/>
          <a:ln w="50800">
            <a:solidFill>
              <a:srgbClr val="F4F7F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918297" y="2811780"/>
            <a:ext cx="8355101" cy="0"/>
          </a:xfrm>
          <a:prstGeom prst="line">
            <a:avLst/>
          </a:prstGeom>
          <a:noFill/>
          <a:ln w="25400">
            <a:solidFill>
              <a:srgbClr val="5FA8C7"/>
            </a:solidFill>
            <a:prstDash val="sysDot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438237" y="2331720"/>
            <a:ext cx="960120" cy="960120"/>
          </a:xfrm>
          <a:prstGeom prst="ellipse">
            <a:avLst/>
          </a:prstGeom>
          <a:solidFill>
            <a:srgbClr val="11243D"/>
          </a:solidFill>
          <a:ln>
            <a:solidFill>
              <a:srgbClr val="264366"/>
            </a:solidFill>
          </a:ln>
        </p:spPr>
        <p:txBody>
          <a:bodyPr/>
          <a:lstStyle/>
          <a:p>
            <a:endParaRPr/>
          </a:p>
        </p:txBody>
      </p:sp>
      <p:pic>
        <p:nvPicPr>
          <p:cNvPr id="7" name="Image 0" descr="/home/claude/icons/tabl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7469" y="2590952"/>
            <a:ext cx="441655" cy="44165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69657" y="18288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8FAFC"/>
                </a:solidFill>
                <a:latin typeface="Aptos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85800" y="3547872"/>
            <a:ext cx="246499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2AC9DC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PHASE 1 · EXCEL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85800" y="3858768"/>
            <a:ext cx="246499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8FAFC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85800" y="4206240"/>
            <a:ext cx="246499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8FAFC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and Preparation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223271" y="2331720"/>
            <a:ext cx="960120" cy="960120"/>
          </a:xfrm>
          <a:prstGeom prst="ellipse">
            <a:avLst/>
          </a:prstGeom>
          <a:solidFill>
            <a:srgbClr val="11243D"/>
          </a:solidFill>
          <a:ln>
            <a:solidFill>
              <a:srgbClr val="264366"/>
            </a:solidFill>
          </a:ln>
        </p:spPr>
        <p:txBody>
          <a:bodyPr/>
          <a:lstStyle/>
          <a:p>
            <a:endParaRPr/>
          </a:p>
        </p:txBody>
      </p:sp>
      <p:pic>
        <p:nvPicPr>
          <p:cNvPr id="13" name="Image 1" descr="/home/claude/icons/databas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2503" y="2590952"/>
            <a:ext cx="441655" cy="44165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154691" y="18288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8FAFC"/>
                </a:solidFill>
                <a:latin typeface="Aptos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3470834" y="3547872"/>
            <a:ext cx="246499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FFA636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PHASE 2 · MYMySQL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3470834" y="3858768"/>
            <a:ext cx="246499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8FAFC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3470834" y="4206240"/>
            <a:ext cx="246499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8FAFC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and Querying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7008305" y="2331720"/>
            <a:ext cx="960120" cy="960120"/>
          </a:xfrm>
          <a:prstGeom prst="ellipse">
            <a:avLst/>
          </a:prstGeom>
          <a:solidFill>
            <a:srgbClr val="11243D"/>
          </a:solidFill>
          <a:ln>
            <a:solidFill>
              <a:srgbClr val="264366"/>
            </a:solidFill>
          </a:ln>
        </p:spPr>
        <p:txBody>
          <a:bodyPr/>
          <a:lstStyle/>
          <a:p>
            <a:endParaRPr/>
          </a:p>
        </p:txBody>
      </p:sp>
      <p:pic>
        <p:nvPicPr>
          <p:cNvPr id="19" name="Image 2" descr="/home/claude/icons/cod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7537" y="2590952"/>
            <a:ext cx="441655" cy="441655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939725" y="18288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8FAFC"/>
                </a:solidFill>
                <a:latin typeface="Aptos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6255868" y="3547872"/>
            <a:ext cx="246499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2BAEA6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PHASE 3 · PYTHON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6255868" y="3858768"/>
            <a:ext cx="246499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8FAFC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Exploratory Analysis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6255868" y="4206240"/>
            <a:ext cx="246499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8FAFC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and Segmentation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9793338" y="2331720"/>
            <a:ext cx="960120" cy="960120"/>
          </a:xfrm>
          <a:prstGeom prst="ellipse">
            <a:avLst/>
          </a:prstGeom>
          <a:solidFill>
            <a:srgbClr val="11243D"/>
          </a:solidFill>
          <a:ln>
            <a:solidFill>
              <a:srgbClr val="264366"/>
            </a:solidFill>
          </a:ln>
        </p:spPr>
        <p:txBody>
          <a:bodyPr/>
          <a:lstStyle/>
          <a:p>
            <a:endParaRPr/>
          </a:p>
        </p:txBody>
      </p:sp>
      <p:pic>
        <p:nvPicPr>
          <p:cNvPr id="25" name="Image 3" descr="/home/claude/icons/piechart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52571" y="2590952"/>
            <a:ext cx="441655" cy="441655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724758" y="18288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8FAFC"/>
                </a:solidFill>
                <a:latin typeface="Aptos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9040901" y="3547872"/>
            <a:ext cx="246499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9774EB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PHASE 4 · POWER BI</a:t>
            </a:r>
            <a:endParaRPr lang="en-US" sz="1050" dirty="0"/>
          </a:p>
        </p:txBody>
      </p:sp>
      <p:sp>
        <p:nvSpPr>
          <p:cNvPr id="28" name="Text 22"/>
          <p:cNvSpPr/>
          <p:nvPr/>
        </p:nvSpPr>
        <p:spPr>
          <a:xfrm>
            <a:off x="9040901" y="3858768"/>
            <a:ext cx="246499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8FAFC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500" dirty="0"/>
          </a:p>
        </p:txBody>
      </p:sp>
      <p:sp>
        <p:nvSpPr>
          <p:cNvPr id="29" name="Text 23"/>
          <p:cNvSpPr/>
          <p:nvPr/>
        </p:nvSpPr>
        <p:spPr>
          <a:xfrm>
            <a:off x="9040901" y="4206240"/>
            <a:ext cx="246499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8FAFC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and Dashboard</a:t>
            </a:r>
            <a:endParaRPr lang="en-US" sz="1200" dirty="0"/>
          </a:p>
        </p:txBody>
      </p:sp>
      <p:sp>
        <p:nvSpPr>
          <p:cNvPr id="30" name="Text 24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F8FAFC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RETAIL SALES ANALYTICS  |  CAPSTONE PROJECT</a:t>
            </a:r>
            <a:endParaRPr lang="en-US" sz="900" dirty="0"/>
          </a:p>
        </p:txBody>
      </p:sp>
      <p:sp>
        <p:nvSpPr>
          <p:cNvPr id="31" name="Text 25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8FAFC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9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383280" cy="6858000"/>
          </a:xfrm>
          <a:prstGeom prst="rect">
            <a:avLst/>
          </a:prstGeom>
          <a:solidFill>
            <a:srgbClr val="11243D"/>
          </a:solidFill>
          <a:ln>
            <a:solidFill>
              <a:srgbClr val="26436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05840" y="2423160"/>
            <a:ext cx="1371600" cy="1371600"/>
          </a:xfrm>
          <a:prstGeom prst="ellipse">
            <a:avLst/>
          </a:prstGeom>
          <a:solidFill>
            <a:srgbClr val="11243D"/>
          </a:solidFill>
          <a:ln>
            <a:solidFill>
              <a:srgbClr val="264366"/>
            </a:solidFill>
          </a:ln>
        </p:spPr>
        <p:txBody>
          <a:bodyPr/>
          <a:lstStyle/>
          <a:p>
            <a:endParaRPr/>
          </a:p>
        </p:txBody>
      </p:sp>
      <p:pic>
        <p:nvPicPr>
          <p:cNvPr id="6" name="Image 0" descr="/home/claude/icons/tabl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740" y="2766060"/>
            <a:ext cx="685800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0" y="39319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2AC9DC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0" y="4233672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AC9DC"/>
                </a:solidFill>
                <a:latin typeface="Aptos" pitchFamily="34" charset="0"/>
                <a:ea typeface="Cambria" pitchFamily="34" charset="-122"/>
                <a:cs typeface="Cambria" pitchFamily="34" charset="-120"/>
              </a:rPr>
              <a:t>Excel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3977640" y="502920"/>
            <a:ext cx="761969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AC9DC"/>
                </a:solidFill>
                <a:latin typeface="Aptos" pitchFamily="34" charset="0"/>
                <a:ea typeface="Cambria" pitchFamily="34" charset="-122"/>
                <a:cs typeface="Cambria" pitchFamily="34" charset="-120"/>
              </a:rPr>
              <a:t>Phase 1 — Excel</a:t>
            </a:r>
            <a:endParaRPr lang="en-US" sz="2700" dirty="0"/>
          </a:p>
        </p:txBody>
      </p:sp>
      <p:sp>
        <p:nvSpPr>
          <p:cNvPr id="10" name="Text 7"/>
          <p:cNvSpPr/>
          <p:nvPr/>
        </p:nvSpPr>
        <p:spPr>
          <a:xfrm>
            <a:off x="3977640" y="987552"/>
            <a:ext cx="7619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F8FAFC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Data Cleaning and Preparation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3977640" y="1709928"/>
            <a:ext cx="292608" cy="292608"/>
          </a:xfrm>
          <a:prstGeom prst="ellipse">
            <a:avLst/>
          </a:prstGeom>
          <a:solidFill>
            <a:srgbClr val="11243D"/>
          </a:solidFill>
          <a:ln>
            <a:solidFill>
              <a:srgbClr val="264366"/>
            </a:solidFill>
          </a:ln>
        </p:spPr>
        <p:txBody>
          <a:bodyPr/>
          <a:lstStyle/>
          <a:p>
            <a:endParaRPr/>
          </a:p>
        </p:txBody>
      </p:sp>
      <p:pic>
        <p:nvPicPr>
          <p:cNvPr id="12" name="Image 1" descr="/home/claude/icons/checkcircle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3236" y="1765524"/>
            <a:ext cx="181417" cy="18141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379976" y="1600200"/>
            <a:ext cx="32474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F8FAFC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Standardized column names and formats across customer, order and product-related tables.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3977640" y="2898648"/>
            <a:ext cx="292608" cy="292608"/>
          </a:xfrm>
          <a:prstGeom prst="ellipse">
            <a:avLst/>
          </a:prstGeom>
          <a:solidFill>
            <a:srgbClr val="11243D"/>
          </a:solidFill>
          <a:ln>
            <a:solidFill>
              <a:srgbClr val="264366"/>
            </a:solidFill>
          </a:ln>
        </p:spPr>
        <p:txBody>
          <a:bodyPr/>
          <a:lstStyle/>
          <a:p>
            <a:endParaRPr/>
          </a:p>
        </p:txBody>
      </p:sp>
      <p:pic>
        <p:nvPicPr>
          <p:cNvPr id="15" name="Image 2" descr="/home/claude/icons/checkcircle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3236" y="2954244"/>
            <a:ext cx="181417" cy="181417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379976" y="2788920"/>
            <a:ext cx="32474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F8FAFC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Identified duplicate records and checked missing values.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3977640" y="4087368"/>
            <a:ext cx="292608" cy="292608"/>
          </a:xfrm>
          <a:prstGeom prst="ellipse">
            <a:avLst/>
          </a:prstGeom>
          <a:solidFill>
            <a:srgbClr val="11243D"/>
          </a:solidFill>
          <a:ln>
            <a:solidFill>
              <a:srgbClr val="264366"/>
            </a:solidFill>
          </a:ln>
        </p:spPr>
        <p:txBody>
          <a:bodyPr/>
          <a:lstStyle/>
          <a:p>
            <a:endParaRPr/>
          </a:p>
        </p:txBody>
      </p:sp>
      <p:pic>
        <p:nvPicPr>
          <p:cNvPr id="18" name="Image 3" descr="/home/claude/icons/checkcircle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3236" y="4142964"/>
            <a:ext cx="181417" cy="181417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4379976" y="3977640"/>
            <a:ext cx="32474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F8FAFC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Converted date and numeric fields into appropriate formats.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3977640" y="5276088"/>
            <a:ext cx="292608" cy="292608"/>
          </a:xfrm>
          <a:prstGeom prst="ellipse">
            <a:avLst/>
          </a:prstGeom>
          <a:solidFill>
            <a:srgbClr val="11243D"/>
          </a:solidFill>
          <a:ln>
            <a:solidFill>
              <a:srgbClr val="264366"/>
            </a:solidFill>
          </a:ln>
        </p:spPr>
        <p:txBody>
          <a:bodyPr/>
          <a:lstStyle/>
          <a:p>
            <a:endParaRPr/>
          </a:p>
        </p:txBody>
      </p:sp>
      <p:pic>
        <p:nvPicPr>
          <p:cNvPr id="21" name="Image 4" descr="/home/claude/icons/checkcircle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3236" y="5331684"/>
            <a:ext cx="181417" cy="181417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379976" y="5166360"/>
            <a:ext cx="32474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F8FAFC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Validated categorical values such as order status.</a:t>
            </a:r>
            <a:endParaRPr lang="en-US" sz="1250" dirty="0"/>
          </a:p>
        </p:txBody>
      </p:sp>
      <p:sp>
        <p:nvSpPr>
          <p:cNvPr id="23" name="Shape 16"/>
          <p:cNvSpPr/>
          <p:nvPr/>
        </p:nvSpPr>
        <p:spPr>
          <a:xfrm>
            <a:off x="7947508" y="1709928"/>
            <a:ext cx="292608" cy="292608"/>
          </a:xfrm>
          <a:prstGeom prst="ellipse">
            <a:avLst/>
          </a:prstGeom>
          <a:solidFill>
            <a:srgbClr val="11243D"/>
          </a:solidFill>
          <a:ln>
            <a:solidFill>
              <a:srgbClr val="264366"/>
            </a:solidFill>
          </a:ln>
        </p:spPr>
        <p:txBody>
          <a:bodyPr/>
          <a:lstStyle/>
          <a:p>
            <a:endParaRPr/>
          </a:p>
        </p:txBody>
      </p:sp>
      <p:pic>
        <p:nvPicPr>
          <p:cNvPr id="24" name="Image 5" descr="/home/claude/icons/checkcircle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3103" y="1765524"/>
            <a:ext cx="181417" cy="181417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8349844" y="1600200"/>
            <a:ext cx="32474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F8FAFC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Created derived sales fields such as total price.</a:t>
            </a:r>
            <a:endParaRPr lang="en-US" sz="1250" dirty="0"/>
          </a:p>
        </p:txBody>
      </p:sp>
      <p:sp>
        <p:nvSpPr>
          <p:cNvPr id="26" name="Shape 18"/>
          <p:cNvSpPr/>
          <p:nvPr/>
        </p:nvSpPr>
        <p:spPr>
          <a:xfrm>
            <a:off x="7947508" y="2898648"/>
            <a:ext cx="292608" cy="292608"/>
          </a:xfrm>
          <a:prstGeom prst="ellipse">
            <a:avLst/>
          </a:prstGeom>
          <a:solidFill>
            <a:srgbClr val="11243D"/>
          </a:solidFill>
          <a:ln>
            <a:solidFill>
              <a:srgbClr val="264366"/>
            </a:solidFill>
          </a:ln>
        </p:spPr>
        <p:txBody>
          <a:bodyPr/>
          <a:lstStyle/>
          <a:p>
            <a:endParaRPr/>
          </a:p>
        </p:txBody>
      </p:sp>
      <p:pic>
        <p:nvPicPr>
          <p:cNvPr id="27" name="Image 6" descr="/home/claude/icons/checkcircle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3103" y="2954244"/>
            <a:ext cx="181417" cy="181417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8349844" y="2788920"/>
            <a:ext cx="32474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F8FAFC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Used lookup operations to combine related product information where required.</a:t>
            </a:r>
            <a:endParaRPr lang="en-US" sz="1250" dirty="0"/>
          </a:p>
        </p:txBody>
      </p:sp>
      <p:sp>
        <p:nvSpPr>
          <p:cNvPr id="29" name="Shape 20"/>
          <p:cNvSpPr/>
          <p:nvPr/>
        </p:nvSpPr>
        <p:spPr>
          <a:xfrm>
            <a:off x="7947508" y="4087368"/>
            <a:ext cx="292608" cy="292608"/>
          </a:xfrm>
          <a:prstGeom prst="ellipse">
            <a:avLst/>
          </a:prstGeom>
          <a:solidFill>
            <a:srgbClr val="11243D"/>
          </a:solidFill>
          <a:ln>
            <a:solidFill>
              <a:srgbClr val="264366"/>
            </a:solidFill>
          </a:ln>
        </p:spPr>
        <p:txBody>
          <a:bodyPr/>
          <a:lstStyle/>
          <a:p>
            <a:endParaRPr/>
          </a:p>
        </p:txBody>
      </p:sp>
      <p:pic>
        <p:nvPicPr>
          <p:cNvPr id="30" name="Image 7" descr="/home/claude/icons/checkcircle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3103" y="4142964"/>
            <a:ext cx="181417" cy="181417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8349844" y="3977640"/>
            <a:ext cx="32474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F8FAFC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Used pivot-table summaries and filters for initial validation and outlier checking.</a:t>
            </a:r>
            <a:endParaRPr lang="en-US" sz="1250" dirty="0"/>
          </a:p>
        </p:txBody>
      </p:sp>
      <p:sp>
        <p:nvSpPr>
          <p:cNvPr id="32" name="Text 22"/>
          <p:cNvSpPr/>
          <p:nvPr/>
        </p:nvSpPr>
        <p:spPr>
          <a:xfrm>
            <a:off x="3977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F8FAFC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RETAIL SALES ANALYTICS  |  CAPSTONE PROJECT</a:t>
            </a:r>
            <a:endParaRPr lang="en-US" sz="900" dirty="0"/>
          </a:p>
        </p:txBody>
      </p:sp>
      <p:sp>
        <p:nvSpPr>
          <p:cNvPr id="33" name="Text 23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8FAFC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9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08415" y="0"/>
            <a:ext cx="3383280" cy="6858000"/>
          </a:xfrm>
          <a:prstGeom prst="rect">
            <a:avLst/>
          </a:prstGeom>
          <a:solidFill>
            <a:srgbClr val="11243D"/>
          </a:solidFill>
          <a:ln>
            <a:solidFill>
              <a:srgbClr val="26436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9814255" y="2423160"/>
            <a:ext cx="1371600" cy="1371600"/>
          </a:xfrm>
          <a:prstGeom prst="ellipse">
            <a:avLst/>
          </a:prstGeom>
          <a:solidFill>
            <a:srgbClr val="11243D"/>
          </a:solidFill>
          <a:ln>
            <a:solidFill>
              <a:srgbClr val="264366"/>
            </a:solidFill>
          </a:ln>
        </p:spPr>
        <p:txBody>
          <a:bodyPr/>
          <a:lstStyle/>
          <a:p>
            <a:endParaRPr/>
          </a:p>
        </p:txBody>
      </p:sp>
      <p:pic>
        <p:nvPicPr>
          <p:cNvPr id="6" name="Image 0" descr="/home/claude/icons/databas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7155" y="2766060"/>
            <a:ext cx="685800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808415" y="39319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A636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808415" y="4233672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A636"/>
                </a:solidFill>
                <a:latin typeface="Aptos" pitchFamily="34" charset="0"/>
                <a:ea typeface="Cambria" pitchFamily="34" charset="-122"/>
                <a:cs typeface="Cambria" pitchFamily="34" charset="-120"/>
              </a:rPr>
              <a:t>MySQL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594360" y="502920"/>
            <a:ext cx="761969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A636"/>
                </a:solidFill>
                <a:latin typeface="Aptos" pitchFamily="34" charset="0"/>
                <a:ea typeface="Cambria" pitchFamily="34" charset="-122"/>
                <a:cs typeface="Cambria" pitchFamily="34" charset="-120"/>
              </a:rPr>
              <a:t>Phase 2 — MyMySQL</a:t>
            </a:r>
            <a:endParaRPr lang="en-US" sz="2700" dirty="0"/>
          </a:p>
        </p:txBody>
      </p:sp>
      <p:sp>
        <p:nvSpPr>
          <p:cNvPr id="10" name="Text 7"/>
          <p:cNvSpPr/>
          <p:nvPr/>
        </p:nvSpPr>
        <p:spPr>
          <a:xfrm>
            <a:off x="594360" y="987552"/>
            <a:ext cx="7619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F8FAFC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Storage and Querying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85216" y="1795272"/>
            <a:ext cx="310896" cy="310896"/>
          </a:xfrm>
          <a:prstGeom prst="ellipse">
            <a:avLst/>
          </a:prstGeom>
          <a:solidFill>
            <a:srgbClr val="11243D"/>
          </a:solidFill>
          <a:ln>
            <a:solidFill>
              <a:srgbClr val="264366"/>
            </a:solidFill>
          </a:ln>
        </p:spPr>
        <p:txBody>
          <a:bodyPr/>
          <a:lstStyle/>
          <a:p>
            <a:endParaRPr/>
          </a:p>
        </p:txBody>
      </p:sp>
      <p:pic>
        <p:nvPicPr>
          <p:cNvPr id="12" name="Image 1" descr="/home/claude/icons/checkcircle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286" y="1854342"/>
            <a:ext cx="192756" cy="1927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05840" y="1600200"/>
            <a:ext cx="7208215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F8FAFC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Loaded cleaned Excel/CSV data into the MySQL salesdb database.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585216" y="2587752"/>
            <a:ext cx="310896" cy="310896"/>
          </a:xfrm>
          <a:prstGeom prst="ellipse">
            <a:avLst/>
          </a:prstGeom>
          <a:solidFill>
            <a:srgbClr val="11243D"/>
          </a:solidFill>
          <a:ln>
            <a:solidFill>
              <a:srgbClr val="264366"/>
            </a:solidFill>
          </a:ln>
        </p:spPr>
        <p:txBody>
          <a:bodyPr/>
          <a:lstStyle/>
          <a:p>
            <a:endParaRPr/>
          </a:p>
        </p:txBody>
      </p:sp>
      <p:pic>
        <p:nvPicPr>
          <p:cNvPr id="15" name="Image 2" descr="/home/claude/icons/checkcircle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286" y="2646822"/>
            <a:ext cx="192756" cy="19275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05840" y="2392680"/>
            <a:ext cx="7208215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F8FAFC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Created relationships between tables using primary and foreign keys in salesdb.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585216" y="3380232"/>
            <a:ext cx="310896" cy="310896"/>
          </a:xfrm>
          <a:prstGeom prst="ellipse">
            <a:avLst/>
          </a:prstGeom>
          <a:solidFill>
            <a:srgbClr val="11243D"/>
          </a:solidFill>
          <a:ln>
            <a:solidFill>
              <a:srgbClr val="264366"/>
            </a:solidFill>
          </a:ln>
        </p:spPr>
        <p:txBody>
          <a:bodyPr/>
          <a:lstStyle/>
          <a:p>
            <a:endParaRPr/>
          </a:p>
        </p:txBody>
      </p:sp>
      <p:pic>
        <p:nvPicPr>
          <p:cNvPr id="18" name="Image 3" descr="/home/claude/icons/checkcircle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286" y="3439302"/>
            <a:ext cx="192756" cy="1927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005840" y="3185160"/>
            <a:ext cx="7208215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F8FAFC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Used joins across orders, order_items and products for transaction analysis.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585216" y="4172712"/>
            <a:ext cx="310896" cy="310896"/>
          </a:xfrm>
          <a:prstGeom prst="ellipse">
            <a:avLst/>
          </a:prstGeom>
          <a:solidFill>
            <a:srgbClr val="11243D"/>
          </a:solidFill>
          <a:ln>
            <a:solidFill>
              <a:srgbClr val="264366"/>
            </a:solidFill>
          </a:ln>
        </p:spPr>
        <p:txBody>
          <a:bodyPr/>
          <a:lstStyle/>
          <a:p>
            <a:endParaRPr/>
          </a:p>
        </p:txBody>
      </p:sp>
      <p:pic>
        <p:nvPicPr>
          <p:cNvPr id="21" name="Image 4" descr="/home/claude/icons/checkcircle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286" y="4231782"/>
            <a:ext cx="192756" cy="192756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005840" y="3977640"/>
            <a:ext cx="7208215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F8FAFC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Aggregated sales by store and staff and identified top-selling products.</a:t>
            </a:r>
            <a:endParaRPr lang="en-US" sz="1400" dirty="0"/>
          </a:p>
        </p:txBody>
      </p:sp>
      <p:sp>
        <p:nvSpPr>
          <p:cNvPr id="23" name="Shape 16"/>
          <p:cNvSpPr/>
          <p:nvPr/>
        </p:nvSpPr>
        <p:spPr>
          <a:xfrm>
            <a:off x="585216" y="4965192"/>
            <a:ext cx="310896" cy="310896"/>
          </a:xfrm>
          <a:prstGeom prst="ellipse">
            <a:avLst/>
          </a:prstGeom>
          <a:solidFill>
            <a:srgbClr val="11243D"/>
          </a:solidFill>
          <a:ln>
            <a:solidFill>
              <a:srgbClr val="264366"/>
            </a:solidFill>
          </a:ln>
        </p:spPr>
        <p:txBody>
          <a:bodyPr/>
          <a:lstStyle/>
          <a:p>
            <a:endParaRPr/>
          </a:p>
        </p:txBody>
      </p:sp>
      <p:pic>
        <p:nvPicPr>
          <p:cNvPr id="24" name="Image 5" descr="/home/claude/icons/checkcircle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286" y="5024262"/>
            <a:ext cx="192756" cy="192756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005840" y="4770120"/>
            <a:ext cx="7208215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F8FAFC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Summarized customer purchases using orders, items and revenue.</a:t>
            </a:r>
            <a:endParaRPr lang="en-US" sz="1400" dirty="0"/>
          </a:p>
        </p:txBody>
      </p:sp>
      <p:sp>
        <p:nvSpPr>
          <p:cNvPr id="26" name="Shape 18"/>
          <p:cNvSpPr/>
          <p:nvPr/>
        </p:nvSpPr>
        <p:spPr>
          <a:xfrm>
            <a:off x="585216" y="5757672"/>
            <a:ext cx="310896" cy="310896"/>
          </a:xfrm>
          <a:prstGeom prst="ellipse">
            <a:avLst/>
          </a:prstGeom>
          <a:solidFill>
            <a:srgbClr val="11243D"/>
          </a:solidFill>
          <a:ln>
            <a:solidFill>
              <a:srgbClr val="264366"/>
            </a:solidFill>
          </a:ln>
        </p:spPr>
        <p:txBody>
          <a:bodyPr/>
          <a:lstStyle/>
          <a:p>
            <a:endParaRPr/>
          </a:p>
        </p:txBody>
      </p:sp>
      <p:pic>
        <p:nvPicPr>
          <p:cNvPr id="27" name="Image 6" descr="/home/claude/icons/checkcircle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286" y="5816742"/>
            <a:ext cx="192756" cy="192756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1005840" y="5562600"/>
            <a:ext cx="7208215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F8FAFC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Identified products below the low-stock quantity.</a:t>
            </a:r>
            <a:endParaRPr lang="en-US" sz="1400" dirty="0"/>
          </a:p>
        </p:txBody>
      </p:sp>
      <p:sp>
        <p:nvSpPr>
          <p:cNvPr id="29" name="Text 20"/>
          <p:cNvSpPr/>
          <p:nvPr/>
        </p:nvSpPr>
        <p:spPr>
          <a:xfrm>
            <a:off x="59436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F8FAFC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RETAIL SALES ANALYTICS  |  CAPSTONE PROJECT</a:t>
            </a:r>
            <a:endParaRPr lang="en-US" sz="900" dirty="0"/>
          </a:p>
        </p:txBody>
      </p:sp>
      <p:sp>
        <p:nvSpPr>
          <p:cNvPr id="30" name="Text 21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8FAFC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9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383280" cy="6858000"/>
          </a:xfrm>
          <a:prstGeom prst="rect">
            <a:avLst/>
          </a:prstGeom>
          <a:solidFill>
            <a:srgbClr val="11243D"/>
          </a:solidFill>
          <a:ln>
            <a:solidFill>
              <a:srgbClr val="26436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05840" y="2423160"/>
            <a:ext cx="1371600" cy="1371600"/>
          </a:xfrm>
          <a:prstGeom prst="ellipse">
            <a:avLst/>
          </a:prstGeom>
          <a:solidFill>
            <a:srgbClr val="11243D"/>
          </a:solidFill>
          <a:ln>
            <a:solidFill>
              <a:srgbClr val="264366"/>
            </a:solidFill>
          </a:ln>
        </p:spPr>
        <p:txBody>
          <a:bodyPr/>
          <a:lstStyle/>
          <a:p>
            <a:endParaRPr/>
          </a:p>
        </p:txBody>
      </p:sp>
      <p:pic>
        <p:nvPicPr>
          <p:cNvPr id="6" name="Image 0" descr="/home/claude/icons/cod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740" y="2766060"/>
            <a:ext cx="685800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0" y="39319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2BAEA6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0" y="4233672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BAEA6"/>
                </a:solidFill>
                <a:latin typeface="Aptos" pitchFamily="34" charset="0"/>
                <a:ea typeface="Cambria" pitchFamily="34" charset="-122"/>
                <a:cs typeface="Cambria" pitchFamily="34" charset="-120"/>
              </a:rPr>
              <a:t>Python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3977640" y="502920"/>
            <a:ext cx="761969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BAEA6"/>
                </a:solidFill>
                <a:latin typeface="Aptos" pitchFamily="34" charset="0"/>
                <a:ea typeface="Cambria" pitchFamily="34" charset="-122"/>
                <a:cs typeface="Cambria" pitchFamily="34" charset="-120"/>
              </a:rPr>
              <a:t>Phase 3 — Python</a:t>
            </a:r>
            <a:endParaRPr lang="en-US" sz="2700" dirty="0"/>
          </a:p>
        </p:txBody>
      </p:sp>
      <p:sp>
        <p:nvSpPr>
          <p:cNvPr id="10" name="Text 7"/>
          <p:cNvSpPr/>
          <p:nvPr/>
        </p:nvSpPr>
        <p:spPr>
          <a:xfrm>
            <a:off x="3977640" y="987552"/>
            <a:ext cx="7619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F8FAFC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Exploratory Analysis and Segmentation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3968496" y="1874520"/>
            <a:ext cx="310896" cy="310896"/>
          </a:xfrm>
          <a:prstGeom prst="ellipse">
            <a:avLst/>
          </a:prstGeom>
          <a:solidFill>
            <a:srgbClr val="11243D"/>
          </a:solidFill>
          <a:ln>
            <a:solidFill>
              <a:srgbClr val="264366"/>
            </a:solidFill>
          </a:ln>
        </p:spPr>
        <p:txBody>
          <a:bodyPr/>
          <a:lstStyle/>
          <a:p>
            <a:endParaRPr/>
          </a:p>
        </p:txBody>
      </p:sp>
      <p:pic>
        <p:nvPicPr>
          <p:cNvPr id="12" name="Image 1" descr="/home/claude/icons/checkcircle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7566" y="1933590"/>
            <a:ext cx="192756" cy="1927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389120" y="1600200"/>
            <a:ext cx="7208215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F8FAFC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Loaded relational data into Python for exploratory analysis.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3968496" y="2825496"/>
            <a:ext cx="310896" cy="310896"/>
          </a:xfrm>
          <a:prstGeom prst="ellipse">
            <a:avLst/>
          </a:prstGeom>
          <a:solidFill>
            <a:srgbClr val="11243D"/>
          </a:solidFill>
          <a:ln>
            <a:solidFill>
              <a:srgbClr val="264366"/>
            </a:solidFill>
          </a:ln>
        </p:spPr>
        <p:txBody>
          <a:bodyPr/>
          <a:lstStyle/>
          <a:p>
            <a:endParaRPr/>
          </a:p>
        </p:txBody>
      </p:sp>
      <p:pic>
        <p:nvPicPr>
          <p:cNvPr id="15" name="Image 2" descr="/home/claude/icons/checkcircle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7566" y="2884566"/>
            <a:ext cx="192756" cy="19275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389120" y="2551176"/>
            <a:ext cx="7208215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F8FAFC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Used descriptive analysis and visualizations to understand the dataset.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3968496" y="3776472"/>
            <a:ext cx="310896" cy="310896"/>
          </a:xfrm>
          <a:prstGeom prst="ellipse">
            <a:avLst/>
          </a:prstGeom>
          <a:solidFill>
            <a:srgbClr val="11243D"/>
          </a:solidFill>
          <a:ln>
            <a:solidFill>
              <a:srgbClr val="264366"/>
            </a:solidFill>
          </a:ln>
        </p:spPr>
        <p:txBody>
          <a:bodyPr/>
          <a:lstStyle/>
          <a:p>
            <a:endParaRPr/>
          </a:p>
        </p:txBody>
      </p:sp>
      <p:pic>
        <p:nvPicPr>
          <p:cNvPr id="18" name="Image 3" descr="/home/claude/icons/checkcircle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7566" y="3835542"/>
            <a:ext cx="192756" cy="1927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4389120" y="3502152"/>
            <a:ext cx="7208215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F8FAFC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Calculated customer RFM features: Recency, Frequency and Monetary value.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3968496" y="4727448"/>
            <a:ext cx="310896" cy="310896"/>
          </a:xfrm>
          <a:prstGeom prst="ellipse">
            <a:avLst/>
          </a:prstGeom>
          <a:solidFill>
            <a:srgbClr val="11243D"/>
          </a:solidFill>
          <a:ln>
            <a:solidFill>
              <a:srgbClr val="264366"/>
            </a:solidFill>
          </a:ln>
        </p:spPr>
        <p:txBody>
          <a:bodyPr/>
          <a:lstStyle/>
          <a:p>
            <a:endParaRPr/>
          </a:p>
        </p:txBody>
      </p:sp>
      <p:pic>
        <p:nvPicPr>
          <p:cNvPr id="21" name="Image 4" descr="/home/claude/icons/checkcircle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7566" y="4786518"/>
            <a:ext cx="192756" cy="192756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389120" y="4453128"/>
            <a:ext cx="7208215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F8FAFC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Used RFM features to create customer segments such as At Risk, Champions and Loyal Customers.</a:t>
            </a:r>
            <a:endParaRPr lang="en-US" sz="1400" dirty="0"/>
          </a:p>
        </p:txBody>
      </p:sp>
      <p:sp>
        <p:nvSpPr>
          <p:cNvPr id="23" name="Shape 16"/>
          <p:cNvSpPr/>
          <p:nvPr/>
        </p:nvSpPr>
        <p:spPr>
          <a:xfrm>
            <a:off x="3968496" y="5678424"/>
            <a:ext cx="310896" cy="310896"/>
          </a:xfrm>
          <a:prstGeom prst="ellipse">
            <a:avLst/>
          </a:prstGeom>
          <a:solidFill>
            <a:srgbClr val="11243D"/>
          </a:solidFill>
          <a:ln>
            <a:solidFill>
              <a:srgbClr val="264366"/>
            </a:solidFill>
          </a:ln>
        </p:spPr>
        <p:txBody>
          <a:bodyPr/>
          <a:lstStyle/>
          <a:p>
            <a:endParaRPr/>
          </a:p>
        </p:txBody>
      </p:sp>
      <p:pic>
        <p:nvPicPr>
          <p:cNvPr id="24" name="Image 5" descr="/home/claude/icons/checkcircle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7566" y="5737494"/>
            <a:ext cx="192756" cy="192756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4389120" y="5404104"/>
            <a:ext cx="7208215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F8FAFC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Used the customer_segments table in the Power BI reporting workflow.</a:t>
            </a:r>
            <a:endParaRPr lang="en-US" sz="1400" dirty="0"/>
          </a:p>
        </p:txBody>
      </p:sp>
      <p:sp>
        <p:nvSpPr>
          <p:cNvPr id="26" name="Text 18"/>
          <p:cNvSpPr/>
          <p:nvPr/>
        </p:nvSpPr>
        <p:spPr>
          <a:xfrm>
            <a:off x="3977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F8FAFC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RETAIL SALES ANALYTICS  |  CAPSTONE PROJECT</a:t>
            </a:r>
            <a:endParaRPr lang="en-US" sz="900" dirty="0"/>
          </a:p>
        </p:txBody>
      </p:sp>
      <p:sp>
        <p:nvSpPr>
          <p:cNvPr id="27" name="Text 19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8FAFC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9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08415" y="0"/>
            <a:ext cx="3383280" cy="6858000"/>
          </a:xfrm>
          <a:prstGeom prst="rect">
            <a:avLst/>
          </a:prstGeom>
          <a:solidFill>
            <a:srgbClr val="11243D"/>
          </a:solidFill>
          <a:ln>
            <a:solidFill>
              <a:srgbClr val="26436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9814255" y="2423160"/>
            <a:ext cx="1371600" cy="1371600"/>
          </a:xfrm>
          <a:prstGeom prst="ellipse">
            <a:avLst/>
          </a:prstGeom>
          <a:solidFill>
            <a:srgbClr val="11243D"/>
          </a:solidFill>
          <a:ln>
            <a:solidFill>
              <a:srgbClr val="264366"/>
            </a:solidFill>
          </a:ln>
        </p:spPr>
        <p:txBody>
          <a:bodyPr/>
          <a:lstStyle/>
          <a:p>
            <a:endParaRPr/>
          </a:p>
        </p:txBody>
      </p:sp>
      <p:pic>
        <p:nvPicPr>
          <p:cNvPr id="6" name="Image 0" descr="/home/claude/icons/piechar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7155" y="2766060"/>
            <a:ext cx="685800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808415" y="39319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9774EB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808415" y="4233672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9774EB"/>
                </a:solidFill>
                <a:latin typeface="Aptos" pitchFamily="34" charset="0"/>
                <a:ea typeface="Cambria" pitchFamily="34" charset="-122"/>
                <a:cs typeface="Cambria" pitchFamily="34" charset="-120"/>
              </a:rPr>
              <a:t>Power BI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594360" y="502920"/>
            <a:ext cx="761969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9774EB"/>
                </a:solidFill>
                <a:latin typeface="Aptos" pitchFamily="34" charset="0"/>
                <a:ea typeface="Cambria" pitchFamily="34" charset="-122"/>
                <a:cs typeface="Cambria" pitchFamily="34" charset="-120"/>
              </a:rPr>
              <a:t>Phase 4 — Power BI</a:t>
            </a:r>
            <a:endParaRPr lang="en-US" sz="2700" dirty="0"/>
          </a:p>
        </p:txBody>
      </p:sp>
      <p:sp>
        <p:nvSpPr>
          <p:cNvPr id="10" name="Text 7"/>
          <p:cNvSpPr/>
          <p:nvPr/>
        </p:nvSpPr>
        <p:spPr>
          <a:xfrm>
            <a:off x="594360" y="987552"/>
            <a:ext cx="7619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F8FAFC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Visualization and Dashboard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85216" y="1874520"/>
            <a:ext cx="310896" cy="310896"/>
          </a:xfrm>
          <a:prstGeom prst="ellipse">
            <a:avLst/>
          </a:prstGeom>
          <a:solidFill>
            <a:srgbClr val="11243D"/>
          </a:solidFill>
          <a:ln>
            <a:solidFill>
              <a:srgbClr val="264366"/>
            </a:solidFill>
          </a:ln>
        </p:spPr>
        <p:txBody>
          <a:bodyPr/>
          <a:lstStyle/>
          <a:p>
            <a:endParaRPr/>
          </a:p>
        </p:txBody>
      </p:sp>
      <p:pic>
        <p:nvPicPr>
          <p:cNvPr id="12" name="Image 1" descr="/home/claude/icons/checkcircle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286" y="1933590"/>
            <a:ext cx="192756" cy="1927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05840" y="1600200"/>
            <a:ext cx="7208215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F8FAFC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Imported tables from MySQL using Get Data.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585216" y="2825496"/>
            <a:ext cx="310896" cy="310896"/>
          </a:xfrm>
          <a:prstGeom prst="ellipse">
            <a:avLst/>
          </a:prstGeom>
          <a:solidFill>
            <a:srgbClr val="11243D"/>
          </a:solidFill>
          <a:ln>
            <a:solidFill>
              <a:srgbClr val="264366"/>
            </a:solidFill>
          </a:ln>
        </p:spPr>
        <p:txBody>
          <a:bodyPr/>
          <a:lstStyle/>
          <a:p>
            <a:endParaRPr/>
          </a:p>
        </p:txBody>
      </p:sp>
      <p:pic>
        <p:nvPicPr>
          <p:cNvPr id="15" name="Image 2" descr="/home/claude/icons/checkcircle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286" y="2884566"/>
            <a:ext cx="192756" cy="19275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05840" y="2551176"/>
            <a:ext cx="7208215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F8FAFC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Created KPI cards and interactive visuals for sales, products, inventory, staff and customers.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585216" y="3776472"/>
            <a:ext cx="310896" cy="310896"/>
          </a:xfrm>
          <a:prstGeom prst="ellipse">
            <a:avLst/>
          </a:prstGeom>
          <a:solidFill>
            <a:srgbClr val="11243D"/>
          </a:solidFill>
          <a:ln>
            <a:solidFill>
              <a:srgbClr val="264366"/>
            </a:solidFill>
          </a:ln>
        </p:spPr>
        <p:txBody>
          <a:bodyPr/>
          <a:lstStyle/>
          <a:p>
            <a:endParaRPr/>
          </a:p>
        </p:txBody>
      </p:sp>
      <p:pic>
        <p:nvPicPr>
          <p:cNvPr id="18" name="Image 3" descr="/home/claude/icons/checkcircle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286" y="3835542"/>
            <a:ext cx="192756" cy="1927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005840" y="3502152"/>
            <a:ext cx="7208215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F8FAFC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Added slicers and filters for interactive exploration.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585216" y="4727448"/>
            <a:ext cx="310896" cy="310896"/>
          </a:xfrm>
          <a:prstGeom prst="ellipse">
            <a:avLst/>
          </a:prstGeom>
          <a:solidFill>
            <a:srgbClr val="11243D"/>
          </a:solidFill>
          <a:ln>
            <a:solidFill>
              <a:srgbClr val="264366"/>
            </a:solidFill>
          </a:ln>
        </p:spPr>
        <p:txBody>
          <a:bodyPr/>
          <a:lstStyle/>
          <a:p>
            <a:endParaRPr/>
          </a:p>
        </p:txBody>
      </p:sp>
      <p:pic>
        <p:nvPicPr>
          <p:cNvPr id="21" name="Image 4" descr="/home/claude/icons/checkcircle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286" y="4786518"/>
            <a:ext cx="192756" cy="192756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005840" y="4453128"/>
            <a:ext cx="7208215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F8FAFC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Created a consolidated reporting experience with management-focused sections.</a:t>
            </a:r>
            <a:endParaRPr lang="en-US" sz="1400" dirty="0"/>
          </a:p>
        </p:txBody>
      </p:sp>
      <p:sp>
        <p:nvSpPr>
          <p:cNvPr id="23" name="Shape 16"/>
          <p:cNvSpPr/>
          <p:nvPr/>
        </p:nvSpPr>
        <p:spPr>
          <a:xfrm>
            <a:off x="585216" y="5678424"/>
            <a:ext cx="310896" cy="310896"/>
          </a:xfrm>
          <a:prstGeom prst="ellipse">
            <a:avLst/>
          </a:prstGeom>
          <a:solidFill>
            <a:srgbClr val="11243D"/>
          </a:solidFill>
          <a:ln>
            <a:solidFill>
              <a:srgbClr val="264366"/>
            </a:solidFill>
          </a:ln>
        </p:spPr>
        <p:txBody>
          <a:bodyPr/>
          <a:lstStyle/>
          <a:p>
            <a:endParaRPr/>
          </a:p>
        </p:txBody>
      </p:sp>
      <p:pic>
        <p:nvPicPr>
          <p:cNvPr id="24" name="Image 5" descr="/home/claude/icons/checkcircle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286" y="5737494"/>
            <a:ext cx="192756" cy="192756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005840" y="5404104"/>
            <a:ext cx="7208215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F8FAFC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Included customer-segment distribution, segment revenue and interactive segment filtering.</a:t>
            </a:r>
            <a:endParaRPr lang="en-US" sz="1400" dirty="0"/>
          </a:p>
        </p:txBody>
      </p:sp>
      <p:sp>
        <p:nvSpPr>
          <p:cNvPr id="26" name="Text 18"/>
          <p:cNvSpPr/>
          <p:nvPr/>
        </p:nvSpPr>
        <p:spPr>
          <a:xfrm>
            <a:off x="59436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F8FAFC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RETAIL SALES ANALYTICS  |  CAPSTONE PROJECT</a:t>
            </a:r>
            <a:endParaRPr lang="en-US" sz="900" dirty="0"/>
          </a:p>
        </p:txBody>
      </p:sp>
      <p:sp>
        <p:nvSpPr>
          <p:cNvPr id="27" name="Text 19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8FAFC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82880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8FAFC"/>
                </a:solidFill>
                <a:latin typeface="Aptos"/>
              </a:rPr>
              <a:t>POWER BI • SALES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21792"/>
            <a:ext cx="10515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2AC9DC"/>
                </a:solidFill>
                <a:latin typeface="Aptos"/>
              </a:rPr>
              <a:t>8.58M sales • 7K units • 2K orders • 1.82K average order value</a:t>
            </a:r>
          </a:p>
        </p:txBody>
      </p:sp>
      <p:pic>
        <p:nvPicPr>
          <p:cNvPr id="4" name="Picture 3" descr="ff5e17ad-ba30-4361-b667-7cb126442bc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60120"/>
            <a:ext cx="11384280" cy="5440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46657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82880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8FAFC"/>
                </a:solidFill>
                <a:latin typeface="Aptos"/>
              </a:rPr>
              <a:t>POWER BI • PRODUCT &amp; INVENTORY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21792"/>
            <a:ext cx="10515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FFA636"/>
                </a:solidFill>
                <a:latin typeface="Aptos"/>
              </a:rPr>
              <a:t>Top products • store revenue • quantity by store • low-stock status</a:t>
            </a:r>
          </a:p>
        </p:txBody>
      </p:sp>
      <p:pic>
        <p:nvPicPr>
          <p:cNvPr id="4" name="Picture 3" descr="add426da-273a-485a-af1f-56dd6f99ece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60120"/>
            <a:ext cx="11384280" cy="5440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44857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82880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8FAFC"/>
                </a:solidFill>
                <a:latin typeface="Aptos"/>
              </a:rPr>
              <a:t>POWER BI • CUSTOMER &amp; STAFF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21792"/>
            <a:ext cx="10515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2BAEA6"/>
                </a:solidFill>
                <a:latin typeface="Aptos"/>
              </a:rPr>
              <a:t>RFM segments • segment revenue • staff sales contribution • interactive filters</a:t>
            </a:r>
          </a:p>
        </p:txBody>
      </p:sp>
      <p:pic>
        <p:nvPicPr>
          <p:cNvPr id="4" name="Picture 3" descr="a8cc618f-7bae-43ee-929c-bd90bedff28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60120"/>
            <a:ext cx="11384280" cy="5440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9267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9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  <a:latin typeface="Aptos" pitchFamily="34" charset="0"/>
                <a:ea typeface="Cambria" pitchFamily="34" charset="-122"/>
                <a:cs typeface="Cambria" pitchFamily="34" charset="-120"/>
              </a:rPr>
              <a:t>Key Insights &amp; Business Interpretation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8FAFC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Turning analysis into decisions across four business areas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64328" cy="2103120"/>
          </a:xfrm>
          <a:prstGeom prst="roundRect">
            <a:avLst>
              <a:gd name="adj" fmla="val 3478"/>
            </a:avLst>
          </a:prstGeom>
          <a:solidFill>
            <a:srgbClr val="11243D"/>
          </a:solidFill>
          <a:ln>
            <a:solidFill>
              <a:srgbClr val="264366"/>
            </a:solidFill>
          </a:ln>
          <a:effectLst>
            <a:outerShdw blurRad="76200" dist="254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800100" y="2308860"/>
            <a:ext cx="685800" cy="685800"/>
          </a:xfrm>
          <a:prstGeom prst="ellipse">
            <a:avLst/>
          </a:prstGeom>
          <a:solidFill>
            <a:srgbClr val="11243D"/>
          </a:solidFill>
          <a:ln>
            <a:solidFill>
              <a:srgbClr val="264366"/>
            </a:solidFill>
          </a:ln>
        </p:spPr>
        <p:txBody>
          <a:bodyPr/>
          <a:lstStyle/>
          <a:p>
            <a:endParaRPr/>
          </a:p>
        </p:txBody>
      </p:sp>
      <p:pic>
        <p:nvPicPr>
          <p:cNvPr id="6" name="Image 0" descr="/home/claude/icons/trendingup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" y="2480310"/>
            <a:ext cx="342900" cy="3429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856232"/>
            <a:ext cx="3992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691640" y="2240280"/>
            <a:ext cx="39470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Monitor total sales, monthly trends, store contribution and staff sales performance.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78728" y="1600200"/>
            <a:ext cx="5364328" cy="2103120"/>
          </a:xfrm>
          <a:prstGeom prst="roundRect">
            <a:avLst>
              <a:gd name="adj" fmla="val 3478"/>
            </a:avLst>
          </a:prstGeom>
          <a:solidFill>
            <a:srgbClr val="11243D"/>
          </a:solidFill>
          <a:ln>
            <a:solidFill>
              <a:srgbClr val="264366"/>
            </a:solidFill>
          </a:ln>
          <a:effectLst>
            <a:outerShdw blurRad="76200" dist="254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Shape 7"/>
          <p:cNvSpPr/>
          <p:nvPr/>
        </p:nvSpPr>
        <p:spPr>
          <a:xfrm>
            <a:off x="6530188" y="2308860"/>
            <a:ext cx="685800" cy="685800"/>
          </a:xfrm>
          <a:prstGeom prst="ellipse">
            <a:avLst/>
          </a:prstGeom>
          <a:solidFill>
            <a:srgbClr val="11243D"/>
          </a:solidFill>
          <a:ln>
            <a:solidFill>
              <a:srgbClr val="264366"/>
            </a:solidFill>
          </a:ln>
        </p:spPr>
        <p:txBody>
          <a:bodyPr/>
          <a:lstStyle/>
          <a:p>
            <a:endParaRPr/>
          </a:p>
        </p:txBody>
      </p:sp>
      <p:pic>
        <p:nvPicPr>
          <p:cNvPr id="11" name="Image 1" descr="/home/claude/icons/packag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1638" y="2480310"/>
            <a:ext cx="342900" cy="3429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21728" y="1856232"/>
            <a:ext cx="3992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7421728" y="2240280"/>
            <a:ext cx="39470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Monitor product/store stock records below the defined low-stock threshold.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4069080"/>
            <a:ext cx="5364328" cy="2103120"/>
          </a:xfrm>
          <a:prstGeom prst="roundRect">
            <a:avLst>
              <a:gd name="adj" fmla="val 3478"/>
            </a:avLst>
          </a:prstGeom>
          <a:solidFill>
            <a:srgbClr val="11243D"/>
          </a:solidFill>
          <a:ln>
            <a:solidFill>
              <a:srgbClr val="264366"/>
            </a:solidFill>
          </a:ln>
          <a:effectLst>
            <a:outerShdw blurRad="76200" dist="254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1"/>
          <p:cNvSpPr/>
          <p:nvPr/>
        </p:nvSpPr>
        <p:spPr>
          <a:xfrm>
            <a:off x="800100" y="4777740"/>
            <a:ext cx="685800" cy="685800"/>
          </a:xfrm>
          <a:prstGeom prst="ellipse">
            <a:avLst/>
          </a:prstGeom>
          <a:solidFill>
            <a:srgbClr val="11243D"/>
          </a:solidFill>
          <a:ln>
            <a:solidFill>
              <a:srgbClr val="264366"/>
            </a:solidFill>
          </a:ln>
        </p:spPr>
        <p:txBody>
          <a:bodyPr/>
          <a:lstStyle/>
          <a:p>
            <a:endParaRPr/>
          </a:p>
        </p:txBody>
      </p:sp>
      <p:pic>
        <p:nvPicPr>
          <p:cNvPr id="16" name="Image 2" descr="/home/claude/icons/tag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" y="4949190"/>
            <a:ext cx="342900" cy="3429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91640" y="4325112"/>
            <a:ext cx="3992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691640" y="4709160"/>
            <a:ext cx="39470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Identify highest-revenue and highest-sold products and review product/category performance.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278728" y="4069080"/>
            <a:ext cx="5364328" cy="2103120"/>
          </a:xfrm>
          <a:prstGeom prst="roundRect">
            <a:avLst>
              <a:gd name="adj" fmla="val 3478"/>
            </a:avLst>
          </a:prstGeom>
          <a:solidFill>
            <a:srgbClr val="11243D"/>
          </a:solidFill>
          <a:ln>
            <a:solidFill>
              <a:srgbClr val="264366"/>
            </a:solidFill>
          </a:ln>
          <a:effectLst>
            <a:outerShdw blurRad="76200" dist="254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" name="Shape 15"/>
          <p:cNvSpPr/>
          <p:nvPr/>
        </p:nvSpPr>
        <p:spPr>
          <a:xfrm>
            <a:off x="6530188" y="4777740"/>
            <a:ext cx="685800" cy="685800"/>
          </a:xfrm>
          <a:prstGeom prst="ellipse">
            <a:avLst/>
          </a:prstGeom>
          <a:solidFill>
            <a:srgbClr val="11243D"/>
          </a:solidFill>
          <a:ln>
            <a:solidFill>
              <a:srgbClr val="264366"/>
            </a:solidFill>
          </a:ln>
        </p:spPr>
        <p:txBody>
          <a:bodyPr/>
          <a:lstStyle/>
          <a:p>
            <a:endParaRPr/>
          </a:p>
        </p:txBody>
      </p:sp>
      <p:pic>
        <p:nvPicPr>
          <p:cNvPr id="21" name="Image 3" descr="/home/claude/icons/users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01638" y="4949190"/>
            <a:ext cx="342900" cy="3429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21728" y="4325112"/>
            <a:ext cx="3992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7421728" y="4709160"/>
            <a:ext cx="39470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Use RFM-based segments and geographic views to understand customer groups and their revenue contribution.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F8FAFC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RETAIL SALES ANALYTICS  |  CAPSTONE PROJECT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8FAFC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26" name="TextBox 25"/>
          <p:cNvSpPr txBox="1"/>
          <p:nvPr/>
        </p:nvSpPr>
        <p:spPr>
          <a:xfrm>
            <a:off x="685800" y="5593842"/>
            <a:ext cx="522716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 dirty="0">
                <a:solidFill>
                  <a:srgbClr val="2AC9DC"/>
                </a:solidFill>
                <a:latin typeface="Aptos"/>
              </a:rPr>
              <a:t>Current dashboard: 8.58M sales • 7K units • 2K orders • 1.82K average order value • 321 products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9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8FAFC"/>
                </a:solidFill>
                <a:latin typeface="Aptos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8FAFC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What this capstone demonstrates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64328" cy="2103120"/>
          </a:xfrm>
          <a:prstGeom prst="roundRect">
            <a:avLst>
              <a:gd name="adj" fmla="val 3478"/>
            </a:avLst>
          </a:prstGeom>
          <a:solidFill>
            <a:srgbClr val="11243D"/>
          </a:solidFill>
          <a:ln>
            <a:solidFill>
              <a:srgbClr val="26436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731520" y="1783080"/>
            <a:ext cx="548640" cy="548640"/>
          </a:xfrm>
          <a:prstGeom prst="ellipse">
            <a:avLst/>
          </a:prstGeom>
          <a:solidFill>
            <a:srgbClr val="11243D"/>
          </a:solidFill>
          <a:ln>
            <a:solidFill>
              <a:srgbClr val="264366"/>
            </a:solidFill>
          </a:ln>
        </p:spPr>
        <p:txBody>
          <a:bodyPr/>
          <a:lstStyle/>
          <a:p>
            <a:endParaRPr/>
          </a:p>
        </p:txBody>
      </p:sp>
      <p:pic>
        <p:nvPicPr>
          <p:cNvPr id="6" name="Image 0" descr="/home/claude/icons/checkcircl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" y="1906524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514600"/>
            <a:ext cx="48522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8FAFC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The project demonstrates an end-to-end data analytics workflow from structured retail data preparation to business intelligence reporting.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278728" y="1600200"/>
            <a:ext cx="5364328" cy="2103120"/>
          </a:xfrm>
          <a:prstGeom prst="roundRect">
            <a:avLst>
              <a:gd name="adj" fmla="val 3478"/>
            </a:avLst>
          </a:prstGeom>
          <a:solidFill>
            <a:srgbClr val="11243D"/>
          </a:solidFill>
          <a:ln>
            <a:solidFill>
              <a:srgbClr val="26436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" name="Shape 6"/>
          <p:cNvSpPr/>
          <p:nvPr/>
        </p:nvSpPr>
        <p:spPr>
          <a:xfrm>
            <a:off x="6461608" y="1783080"/>
            <a:ext cx="548640" cy="548640"/>
          </a:xfrm>
          <a:prstGeom prst="ellipse">
            <a:avLst/>
          </a:prstGeom>
          <a:solidFill>
            <a:srgbClr val="11243D"/>
          </a:solidFill>
          <a:ln>
            <a:solidFill>
              <a:srgbClr val="264366"/>
            </a:solidFill>
          </a:ln>
        </p:spPr>
        <p:txBody>
          <a:bodyPr/>
          <a:lstStyle/>
          <a:p>
            <a:endParaRPr/>
          </a:p>
        </p:txBody>
      </p:sp>
      <p:pic>
        <p:nvPicPr>
          <p:cNvPr id="10" name="Image 1" descr="/home/claude/icons/checkcircl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5052" y="1906524"/>
            <a:ext cx="301752" cy="30175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534760" y="2514600"/>
            <a:ext cx="48522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8FAFC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It combines Excel, MySQL, Python and Power BI concepts to transform transactional data into business-oriented views.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548640" y="4069080"/>
            <a:ext cx="5364328" cy="2103120"/>
          </a:xfrm>
          <a:prstGeom prst="roundRect">
            <a:avLst>
              <a:gd name="adj" fmla="val 3478"/>
            </a:avLst>
          </a:prstGeom>
          <a:solidFill>
            <a:srgbClr val="11243D"/>
          </a:solidFill>
          <a:ln>
            <a:solidFill>
              <a:srgbClr val="26436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" name="Shape 9"/>
          <p:cNvSpPr/>
          <p:nvPr/>
        </p:nvSpPr>
        <p:spPr>
          <a:xfrm>
            <a:off x="731520" y="4251960"/>
            <a:ext cx="548640" cy="548640"/>
          </a:xfrm>
          <a:prstGeom prst="ellipse">
            <a:avLst/>
          </a:prstGeom>
          <a:solidFill>
            <a:srgbClr val="11243D"/>
          </a:solidFill>
          <a:ln>
            <a:solidFill>
              <a:srgbClr val="264366"/>
            </a:solidFill>
          </a:ln>
        </p:spPr>
        <p:txBody>
          <a:bodyPr/>
          <a:lstStyle/>
          <a:p>
            <a:endParaRPr/>
          </a:p>
        </p:txBody>
      </p:sp>
      <p:pic>
        <p:nvPicPr>
          <p:cNvPr id="14" name="Image 2" descr="/home/claude/icons/checkcircl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" y="4375404"/>
            <a:ext cx="301752" cy="30175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04672" y="4983480"/>
            <a:ext cx="48522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8FAFC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The final Power BI deliverable provides interactive reporting across Sales Performance, Inventory Insights and Customer Analysis.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278728" y="4069080"/>
            <a:ext cx="5364328" cy="2103120"/>
          </a:xfrm>
          <a:prstGeom prst="roundRect">
            <a:avLst>
              <a:gd name="adj" fmla="val 3478"/>
            </a:avLst>
          </a:prstGeom>
          <a:solidFill>
            <a:srgbClr val="11243D"/>
          </a:solidFill>
          <a:ln>
            <a:solidFill>
              <a:srgbClr val="26436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7" name="Shape 12"/>
          <p:cNvSpPr/>
          <p:nvPr/>
        </p:nvSpPr>
        <p:spPr>
          <a:xfrm>
            <a:off x="6461608" y="4251960"/>
            <a:ext cx="548640" cy="548640"/>
          </a:xfrm>
          <a:prstGeom prst="ellipse">
            <a:avLst/>
          </a:prstGeom>
          <a:solidFill>
            <a:srgbClr val="11243D"/>
          </a:solidFill>
          <a:ln>
            <a:solidFill>
              <a:srgbClr val="264366"/>
            </a:solidFill>
          </a:ln>
        </p:spPr>
        <p:txBody>
          <a:bodyPr/>
          <a:lstStyle/>
          <a:p>
            <a:endParaRPr/>
          </a:p>
        </p:txBody>
      </p:sp>
      <p:pic>
        <p:nvPicPr>
          <p:cNvPr id="18" name="Image 3" descr="/home/claude/icons/checkcircl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5052" y="4375404"/>
            <a:ext cx="301752" cy="30175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534760" y="4983480"/>
            <a:ext cx="48522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8FAFC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The project provides a practical example of moving from raw business data to a management-ready dashboard.</a:t>
            </a:r>
            <a:endParaRPr lang="en-US" sz="1250" dirty="0"/>
          </a:p>
        </p:txBody>
      </p:sp>
      <p:sp>
        <p:nvSpPr>
          <p:cNvPr id="20" name="Text 14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F8FAFC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RETAIL SALES ANALYTICS  |  CAPSTONE PROJECT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8FAFC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22" name="TextBox 21"/>
          <p:cNvSpPr txBox="1"/>
          <p:nvPr/>
        </p:nvSpPr>
        <p:spPr>
          <a:xfrm>
            <a:off x="617220" y="5709309"/>
            <a:ext cx="522716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dirty="0">
                <a:solidFill>
                  <a:srgbClr val="2AC9DC"/>
                </a:solidFill>
                <a:latin typeface="Aptos"/>
              </a:rPr>
              <a:t>Final deliverable: an interactive retail analytics workflow using Excel → MySQL → Python → Power BI.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760</Words>
  <Application>Microsoft Office PowerPoint</Application>
  <PresentationFormat>Widescreen</PresentationFormat>
  <Paragraphs>129</Paragraphs>
  <Slides>12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S0326122</cp:lastModifiedBy>
  <cp:revision>5</cp:revision>
  <dcterms:created xsi:type="dcterms:W3CDTF">2026-09-21T18:06:49Z</dcterms:created>
  <dcterms:modified xsi:type="dcterms:W3CDTF">2026-09-22T17:42:35Z</dcterms:modified>
</cp:coreProperties>
</file>